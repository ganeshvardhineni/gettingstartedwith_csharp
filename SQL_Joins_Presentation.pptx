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418320" y="-1554480"/>
            <a:ext cx="4023360" cy="4023360"/>
          </a:xfrm>
          <a:prstGeom prst="ellipse">
            <a:avLst/>
          </a:prstGeom>
          <a:solidFill>
            <a:srgbClr val="2634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914400" y="5029200"/>
            <a:ext cx="2743200" cy="2743200"/>
          </a:xfrm>
          <a:prstGeom prst="ellipse">
            <a:avLst/>
          </a:prstGeom>
          <a:solidFill>
            <a:srgbClr val="2634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2834640"/>
            <a:ext cx="164592" cy="146304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560320"/>
            <a:ext cx="8229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 i="0">
                <a:solidFill>
                  <a:srgbClr val="FFFFFF"/>
                </a:solidFill>
                <a:latin typeface="Calibri"/>
              </a:rPr>
              <a:t>SQL JOINS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38404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CADCFC"/>
                </a:solidFill>
                <a:latin typeface="Calibri"/>
              </a:rPr>
              <a:t>How Tables Talk to Each Other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45262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55608A"/>
                </a:solidFill>
                <a:latin typeface="Calibri"/>
              </a:rPr>
              <a:t>A simple, visual, human-friendly guide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141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0" y="6355080"/>
            <a:ext cx="12188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ADCFC"/>
                </a:solidFill>
                <a:latin typeface="Calibri"/>
              </a:rPr>
              <a:t>5-Minute Presentation  |  SQL Fundamentals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2860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08A"/>
                </a:solidFill>
                <a:latin typeface="Calibri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What is a JOIN?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16916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CADCFC"/>
                </a:solidFill>
                <a:latin typeface="Calibri"/>
              </a:rPr>
              <a:t>Think of it like this…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2194560"/>
            <a:ext cx="35661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ADCFC"/>
                </a:solidFill>
                <a:latin typeface="Calibri"/>
              </a:rPr>
              <a:t>You have two notebooks:
📒  Notebook A — your friends list
       (Name, City)
📗  Notebook B — their orders
       (Name, Item)
A JOIN connects these notebooks
by matching the Name column —
so you can answer:
"Who ordered what, and where do they live?"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80560" y="457200"/>
            <a:ext cx="7223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E2761"/>
                </a:solidFill>
                <a:latin typeface="Calibri"/>
              </a:rPr>
              <a:t>Real World Scenario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1005840"/>
            <a:ext cx="7223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608A"/>
                </a:solidFill>
                <a:latin typeface="Calibri"/>
              </a:rPr>
              <a:t>Two separate database tables:</a:t>
            </a:r>
          </a:p>
        </p:txBody>
      </p:sp>
      <p:sp>
        <p:nvSpPr>
          <p:cNvPr id="9" name="Rectangle 8"/>
          <p:cNvSpPr/>
          <p:nvPr/>
        </p:nvSpPr>
        <p:spPr>
          <a:xfrm>
            <a:off x="4480560" y="1417320"/>
            <a:ext cx="3200400" cy="4114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141732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  Customers Table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80560" y="1828800"/>
            <a:ext cx="3200400" cy="384048"/>
          </a:xfrm>
          <a:prstGeom prst="rect">
            <a:avLst/>
          </a:prstGeom>
          <a:solidFill>
            <a:srgbClr val="E8E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1828800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  <a:latin typeface="Calibri"/>
              </a:rPr>
              <a:t>  CustomerID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1828800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  <a:latin typeface="Calibri"/>
              </a:rPr>
              <a:t>  Name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1828800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  <a:latin typeface="Calibri"/>
              </a:rPr>
              <a:t>  City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80560" y="2212848"/>
            <a:ext cx="32004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60" y="2212848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  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0" y="2212848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  Alice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2212848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  Mumbai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60" y="2596896"/>
            <a:ext cx="3200400" cy="384048"/>
          </a:xfrm>
          <a:prstGeom prst="rect">
            <a:avLst/>
          </a:prstGeom>
          <a:solidFill>
            <a:srgbClr val="E8E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80560" y="2596896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 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2596896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  Bob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2596896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  Delhi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480560" y="2980944"/>
            <a:ext cx="32004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80560" y="2980944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 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0" y="2980944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  Carol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2980944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  Chennai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955279" y="1417320"/>
            <a:ext cx="3566160" cy="41148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55279" y="141732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  Orders Table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955279" y="1828800"/>
            <a:ext cx="3566160" cy="384048"/>
          </a:xfrm>
          <a:prstGeom prst="rect">
            <a:avLst/>
          </a:prstGeom>
          <a:solidFill>
            <a:srgbClr val="E0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55279" y="1828800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  <a:latin typeface="Calibri"/>
              </a:rPr>
              <a:t>  OrderID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52560" y="1828800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  <a:latin typeface="Calibri"/>
              </a:rPr>
              <a:t>  CustomerID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49840" y="1828800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  <a:latin typeface="Calibri"/>
              </a:rPr>
              <a:t>  Item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955279" y="2212848"/>
            <a:ext cx="356616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55279" y="2212848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  101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52560" y="2212848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  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149840" y="2212848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  Laptop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955279" y="2596896"/>
            <a:ext cx="3566160" cy="384048"/>
          </a:xfrm>
          <a:prstGeom prst="rect">
            <a:avLst/>
          </a:prstGeom>
          <a:solidFill>
            <a:srgbClr val="E0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955279" y="2596896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  102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52560" y="2596896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  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149840" y="2596896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  Phone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955279" y="2980944"/>
            <a:ext cx="356616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955279" y="2980944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  103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52560" y="2980944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  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149840" y="2980944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  Tablet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480560" y="352044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8C00"/>
                </a:solidFill>
                <a:latin typeface="Calibri"/>
              </a:rPr>
              <a:t>← CustomerID →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480560" y="3931920"/>
            <a:ext cx="6949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1E2761"/>
                </a:solidFill>
                <a:latin typeface="Calibri"/>
              </a:rPr>
              <a:t>This shared column is the KEY that JOINs the two tables!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480560" y="4572000"/>
            <a:ext cx="2286000" cy="13716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480560" y="46177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latin typeface="Calibri"/>
              </a:rPr>
              <a:t>🔗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480560" y="502920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JOIN links two tables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480560" y="537667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ADCFC"/>
                </a:solidFill>
                <a:latin typeface="Calibri"/>
              </a:rPr>
              <a:t>by a matching column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949440" y="4572000"/>
            <a:ext cx="2286000" cy="13716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949440" y="46177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latin typeface="Calibri"/>
              </a:rPr>
              <a:t>📊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949440" y="502920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Think of it as a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949440" y="537667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ADCFC"/>
                </a:solidFill>
                <a:latin typeface="Calibri"/>
              </a:rPr>
              <a:t>merge / vlookup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418320" y="4572000"/>
            <a:ext cx="2286000" cy="13716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418320" y="46177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latin typeface="Calibri"/>
              </a:rPr>
              <a:t>💡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418320" y="502920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One query to rule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418320" y="537667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ADCFC"/>
                </a:solidFill>
                <a:latin typeface="Calibri"/>
              </a:rPr>
              <a:t>them all</a:t>
            </a:r>
          </a:p>
        </p:txBody>
      </p:sp>
      <p:sp>
        <p:nvSpPr>
          <p:cNvPr id="59" name="Rectangle 58"/>
          <p:cNvSpPr/>
          <p:nvPr/>
        </p:nvSpPr>
        <p:spPr>
          <a:xfrm>
            <a:off x="0" y="6492240"/>
            <a:ext cx="12188952" cy="1828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08A"/>
                </a:solidFill>
                <a:latin typeface="Calibri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Calibri"/>
              </a:rPr>
              <a:t>The Most Common JOINs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777240"/>
            <a:ext cx="11430000" cy="36576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868680"/>
            <a:ext cx="5577840" cy="5897880"/>
          </a:xfrm>
          <a:prstGeom prst="rect">
            <a:avLst/>
          </a:prstGeom>
          <a:solidFill>
            <a:srgbClr val="F4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28090"/>
                </a:solidFill>
                <a:latin typeface="Calibri"/>
              </a:rPr>
              <a:t>INNER JOIN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5608A"/>
                </a:solidFill>
                <a:latin typeface="Calibri"/>
              </a:rPr>
              <a:t>Only matching rows — the overlap</a:t>
            </a:r>
          </a:p>
        </p:txBody>
      </p:sp>
      <p:sp>
        <p:nvSpPr>
          <p:cNvPr id="8" name="Oval 7"/>
          <p:cNvSpPr/>
          <p:nvPr/>
        </p:nvSpPr>
        <p:spPr>
          <a:xfrm>
            <a:off x="1975104" y="1920240"/>
            <a:ext cx="1554480" cy="155448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596896" y="1920240"/>
            <a:ext cx="1554480" cy="155448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64208" y="2514600"/>
            <a:ext cx="10881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Customers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79826" y="2514600"/>
            <a:ext cx="10881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Orders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52344" y="2532888"/>
            <a:ext cx="6217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MATCH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520440"/>
            <a:ext cx="5212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onsolas"/>
              </a:rPr>
              <a:t>SELECT * FROM Customers
INNER JOIN Orders
ON Customers.CustomerID = Orders.CustomerID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480560"/>
            <a:ext cx="5212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📌  Alice and Bob appear — Carol and Order 103 are excluded
      because there's no match for CustomerID 3 or 5.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5532120"/>
            <a:ext cx="1828800" cy="30175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5532120"/>
            <a:ext cx="914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Name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5532120"/>
            <a:ext cx="914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Item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5833872"/>
            <a:ext cx="1828800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5833872"/>
            <a:ext cx="914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Alice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5833872"/>
            <a:ext cx="914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Laptop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6135624"/>
            <a:ext cx="1828800" cy="301752"/>
          </a:xfrm>
          <a:prstGeom prst="rect">
            <a:avLst/>
          </a:prstGeom>
          <a:solidFill>
            <a:srgbClr val="E0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6135624"/>
            <a:ext cx="914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Bob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6135624"/>
            <a:ext cx="914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Phone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72200" y="868680"/>
            <a:ext cx="5577840" cy="5897880"/>
          </a:xfrm>
          <a:prstGeom prst="rect">
            <a:avLst/>
          </a:prstGeom>
          <a:solidFill>
            <a:srgbClr val="F4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0" y="9144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D9A88"/>
                </a:solidFill>
                <a:latin typeface="Calibri"/>
              </a:rPr>
              <a:t>LEFT JOIN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137160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5608A"/>
                </a:solidFill>
                <a:latin typeface="Calibri"/>
              </a:rPr>
              <a:t>All left rows + matching right rows</a:t>
            </a:r>
          </a:p>
        </p:txBody>
      </p:sp>
      <p:sp>
        <p:nvSpPr>
          <p:cNvPr id="27" name="Oval 26"/>
          <p:cNvSpPr/>
          <p:nvPr/>
        </p:nvSpPr>
        <p:spPr>
          <a:xfrm>
            <a:off x="8229600" y="1920240"/>
            <a:ext cx="1554480" cy="1554480"/>
          </a:xfrm>
          <a:prstGeom prst="ellipse">
            <a:avLst/>
          </a:prstGeom>
          <a:solidFill>
            <a:srgbClr val="0D9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006840" y="1920240"/>
            <a:ext cx="1554480" cy="155448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229600" y="1920240"/>
            <a:ext cx="1554480" cy="1554480"/>
          </a:xfrm>
          <a:prstGeom prst="ellipse">
            <a:avLst/>
          </a:prstGeom>
          <a:solidFill>
            <a:srgbClr val="0D9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55080" y="256032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Customers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26880" y="256032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A1A2E"/>
                </a:solidFill>
                <a:latin typeface="Calibri"/>
              </a:rPr>
              <a:t>Orders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9360" y="3520440"/>
            <a:ext cx="5212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onsolas"/>
              </a:rPr>
              <a:t>SELECT * FROM Customers
LEFT JOIN Orders
ON Customers.CustomerID = Orders.CustomerID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9360" y="4480560"/>
            <a:ext cx="5212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📌  All 3 customers appear — Alice &amp; Bob have orders,
      Carol shows up with NULL for the order columns.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09360" y="5532120"/>
            <a:ext cx="2011680" cy="301752"/>
          </a:xfrm>
          <a:prstGeom prst="rect">
            <a:avLst/>
          </a:prstGeom>
          <a:solidFill>
            <a:srgbClr val="0D9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09360" y="5532120"/>
            <a:ext cx="10058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Name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0" y="5532120"/>
            <a:ext cx="10058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Item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09360" y="5833872"/>
            <a:ext cx="2011680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09360" y="5833872"/>
            <a:ext cx="10058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Alice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0" y="5833872"/>
            <a:ext cx="10058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Laptop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09360" y="6135624"/>
            <a:ext cx="2011680" cy="301752"/>
          </a:xfrm>
          <a:prstGeom prst="rect">
            <a:avLst/>
          </a:prstGeom>
          <a:solidFill>
            <a:srgbClr val="DD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09360" y="6135624"/>
            <a:ext cx="10058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Bob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15200" y="6135624"/>
            <a:ext cx="10058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Phone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309360" y="6437376"/>
            <a:ext cx="2011680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309360" y="6437376"/>
            <a:ext cx="10058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Carol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15200" y="6437376"/>
            <a:ext cx="10058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608A"/>
                </a:solidFill>
                <a:latin typeface="Calibri"/>
              </a:rPr>
              <a:t>NULL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6492240"/>
            <a:ext cx="12188952" cy="1828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08A"/>
                </a:solidFill>
                <a:latin typeface="Calibri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Calibri"/>
              </a:rPr>
              <a:t>More JOIN Types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777240"/>
            <a:ext cx="11430000" cy="36576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868680"/>
            <a:ext cx="5577840" cy="5897880"/>
          </a:xfrm>
          <a:prstGeom prst="rect">
            <a:avLst/>
          </a:prstGeom>
          <a:solidFill>
            <a:srgbClr val="F4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6D2E46"/>
                </a:solidFill>
                <a:latin typeface="Calibri"/>
              </a:rPr>
              <a:t>RIGHT JOIN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5608A"/>
                </a:solidFill>
                <a:latin typeface="Calibri"/>
              </a:rPr>
              <a:t>All right rows + matching left rows</a:t>
            </a:r>
          </a:p>
        </p:txBody>
      </p:sp>
      <p:sp>
        <p:nvSpPr>
          <p:cNvPr id="8" name="Oval 7"/>
          <p:cNvSpPr/>
          <p:nvPr/>
        </p:nvSpPr>
        <p:spPr>
          <a:xfrm>
            <a:off x="1371600" y="1920240"/>
            <a:ext cx="1554480" cy="155448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148840" y="1920240"/>
            <a:ext cx="1554480" cy="1554480"/>
          </a:xfrm>
          <a:prstGeom prst="ellipse">
            <a:avLst/>
          </a:prstGeom>
          <a:solidFill>
            <a:srgbClr val="6D2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56032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A1A2E"/>
                </a:solidFill>
                <a:latin typeface="Calibri"/>
              </a:rPr>
              <a:t>Customers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256032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Orders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520440"/>
            <a:ext cx="5212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onsolas"/>
              </a:rPr>
              <a:t>SELECT * FROM Customers
RIGHT JOIN Orders
ON Customers.CustomerID = Orders.CustomerID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480560"/>
            <a:ext cx="5212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📌  All orders appear. Order 103 (CustomerID 5) shows
      NULL for customer details — that customer isn't in our table.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5532120"/>
            <a:ext cx="2011680" cy="301752"/>
          </a:xfrm>
          <a:prstGeom prst="rect">
            <a:avLst/>
          </a:prstGeom>
          <a:solidFill>
            <a:srgbClr val="6D2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5532120"/>
            <a:ext cx="10058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Name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5532120"/>
            <a:ext cx="10058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Item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5833872"/>
            <a:ext cx="2011680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5833872"/>
            <a:ext cx="10058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Alice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5833872"/>
            <a:ext cx="10058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Laptop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135624"/>
            <a:ext cx="2011680" cy="301752"/>
          </a:xfrm>
          <a:prstGeom prst="rect">
            <a:avLst/>
          </a:prstGeom>
          <a:solidFill>
            <a:srgbClr val="F5E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135624"/>
            <a:ext cx="10058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Bob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6135624"/>
            <a:ext cx="10058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Phone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6437376"/>
            <a:ext cx="2011680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6437376"/>
            <a:ext cx="10058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608A"/>
                </a:solidFill>
                <a:latin typeface="Calibri"/>
              </a:rPr>
              <a:t>NULL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63040" y="6437376"/>
            <a:ext cx="10058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Tablet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72200" y="868680"/>
            <a:ext cx="5577840" cy="5897880"/>
          </a:xfrm>
          <a:prstGeom prst="rect">
            <a:avLst/>
          </a:prstGeom>
          <a:solidFill>
            <a:srgbClr val="F4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09360" y="9144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8B5CF6"/>
                </a:solidFill>
                <a:latin typeface="Calibri"/>
              </a:rPr>
              <a:t>FULL OUTER JOIN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137160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5608A"/>
                </a:solidFill>
                <a:latin typeface="Calibri"/>
              </a:rPr>
              <a:t>Everything from both tables</a:t>
            </a:r>
          </a:p>
        </p:txBody>
      </p:sp>
      <p:sp>
        <p:nvSpPr>
          <p:cNvPr id="29" name="Oval 28"/>
          <p:cNvSpPr/>
          <p:nvPr/>
        </p:nvSpPr>
        <p:spPr>
          <a:xfrm>
            <a:off x="7315200" y="1920240"/>
            <a:ext cx="1554480" cy="155448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092440" y="1920240"/>
            <a:ext cx="1554480" cy="155448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46520" y="256032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Customers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69680" y="256032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Orders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9360" y="3520440"/>
            <a:ext cx="5212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onsolas"/>
              </a:rPr>
              <a:t>SELECT * FROM Customers
FULL OUTER JOIN Orders
ON Customers.CustomerID = Orders.CustomerID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9360" y="4480560"/>
            <a:ext cx="5212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📌  Everyone appears: matched rows filled in, unmatched
      rows show NULL on the missing side. Nothing left out!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09360" y="5532120"/>
            <a:ext cx="2011680" cy="3017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09360" y="5532120"/>
            <a:ext cx="10058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Name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0" y="5532120"/>
            <a:ext cx="10058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Item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09360" y="5833872"/>
            <a:ext cx="2011680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09360" y="5833872"/>
            <a:ext cx="10058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Alice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0" y="5833872"/>
            <a:ext cx="10058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Laptop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09360" y="6135624"/>
            <a:ext cx="2011680" cy="301752"/>
          </a:xfrm>
          <a:prstGeom prst="rect">
            <a:avLst/>
          </a:prstGeom>
          <a:solidFill>
            <a:srgbClr val="F0E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09360" y="6135624"/>
            <a:ext cx="10058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Bob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15200" y="6135624"/>
            <a:ext cx="10058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Phone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309360" y="6437376"/>
            <a:ext cx="2011680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09360" y="6437376"/>
            <a:ext cx="10058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Carol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15200" y="6437376"/>
            <a:ext cx="10058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608A"/>
                </a:solidFill>
                <a:latin typeface="Calibri"/>
              </a:rPr>
              <a:t>NULL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309360" y="6739128"/>
            <a:ext cx="2011680" cy="301752"/>
          </a:xfrm>
          <a:prstGeom prst="rect">
            <a:avLst/>
          </a:prstGeom>
          <a:solidFill>
            <a:srgbClr val="F0E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309360" y="6739128"/>
            <a:ext cx="10058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608A"/>
                </a:solidFill>
                <a:latin typeface="Calibri"/>
              </a:rPr>
              <a:t>NULL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315200" y="6739128"/>
            <a:ext cx="10058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Tablet</a:t>
            </a:r>
          </a:p>
        </p:txBody>
      </p:sp>
      <p:sp>
        <p:nvSpPr>
          <p:cNvPr id="50" name="Rectangle 49"/>
          <p:cNvSpPr/>
          <p:nvPr/>
        </p:nvSpPr>
        <p:spPr>
          <a:xfrm>
            <a:off x="0" y="6492240"/>
            <a:ext cx="12188952" cy="1828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08A"/>
                </a:solidFill>
                <a:latin typeface="Calibri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371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Quick Reference — JOIN Cheat Sheet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749808"/>
            <a:ext cx="11430000" cy="36576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868680"/>
            <a:ext cx="2651760" cy="5303520"/>
          </a:xfrm>
          <a:prstGeom prst="rect">
            <a:avLst/>
          </a:prstGeom>
          <a:solidFill>
            <a:srgbClr val="2835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868680"/>
            <a:ext cx="2651760" cy="5029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886968"/>
            <a:ext cx="246887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🤝  INNER JOIN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46304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ADCFC"/>
                </a:solidFill>
                <a:latin typeface="Calibri"/>
              </a:rPr>
              <a:t>Matching rows only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920240"/>
            <a:ext cx="2377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Use when you only care about data that exists in BOTH tables.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3246120"/>
            <a:ext cx="2377440" cy="36576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333756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8C00"/>
                </a:solidFill>
                <a:latin typeface="Calibri"/>
              </a:rPr>
              <a:t>Example result: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65760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  <a:latin typeface="Consolas"/>
              </a:rPr>
              <a:t>Alice→Laptop, Bob→Phone
(Carol &amp; Tablet order excluded)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73551" y="868680"/>
            <a:ext cx="2651760" cy="5303520"/>
          </a:xfrm>
          <a:prstGeom prst="rect">
            <a:avLst/>
          </a:prstGeom>
          <a:solidFill>
            <a:srgbClr val="2835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73551" y="868680"/>
            <a:ext cx="2651760" cy="502920"/>
          </a:xfrm>
          <a:prstGeom prst="rect">
            <a:avLst/>
          </a:prstGeom>
          <a:solidFill>
            <a:srgbClr val="0D9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64991" y="886968"/>
            <a:ext cx="246887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⬅️  LEFT JOIN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10711" y="146304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ADCFC"/>
                </a:solidFill>
                <a:latin typeface="Calibri"/>
              </a:rPr>
              <a:t>All left + matching right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10711" y="1920240"/>
            <a:ext cx="2377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Use when you need ALL records from the left (main) table, even if no match.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10711" y="3246120"/>
            <a:ext cx="2377440" cy="36576"/>
          </a:xfrm>
          <a:prstGeom prst="rect">
            <a:avLst/>
          </a:prstGeom>
          <a:solidFill>
            <a:srgbClr val="0D9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10711" y="333756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8C00"/>
                </a:solidFill>
                <a:latin typeface="Calibri"/>
              </a:rPr>
              <a:t>Example result: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10711" y="365760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  <a:latin typeface="Consolas"/>
              </a:rPr>
              <a:t>Alice, Bob, Carol all shown
(Carol's order = NULL)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81344" y="868680"/>
            <a:ext cx="2651760" cy="5303520"/>
          </a:xfrm>
          <a:prstGeom prst="rect">
            <a:avLst/>
          </a:prstGeom>
          <a:solidFill>
            <a:srgbClr val="2835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81344" y="868680"/>
            <a:ext cx="2651760" cy="502920"/>
          </a:xfrm>
          <a:prstGeom prst="rect">
            <a:avLst/>
          </a:prstGeom>
          <a:solidFill>
            <a:srgbClr val="6D2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72783" y="886968"/>
            <a:ext cx="246887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➡️  RIGHT JOIN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18504" y="146304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ADCFC"/>
                </a:solidFill>
                <a:latin typeface="Calibri"/>
              </a:rPr>
              <a:t>All right + matching left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18504" y="1920240"/>
            <a:ext cx="2377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Use when you need ALL records from the right table, even if no match.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18504" y="3246120"/>
            <a:ext cx="2377440" cy="36576"/>
          </a:xfrm>
          <a:prstGeom prst="rect">
            <a:avLst/>
          </a:prstGeom>
          <a:solidFill>
            <a:srgbClr val="6D2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18504" y="333756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8C00"/>
                </a:solidFill>
                <a:latin typeface="Calibri"/>
              </a:rPr>
              <a:t>Example result: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18504" y="365760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  <a:latin typeface="Consolas"/>
              </a:rPr>
              <a:t>All orders shown
(Order 103 customer = NULL)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089136" y="868680"/>
            <a:ext cx="2651760" cy="5303520"/>
          </a:xfrm>
          <a:prstGeom prst="rect">
            <a:avLst/>
          </a:prstGeom>
          <a:solidFill>
            <a:srgbClr val="2835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089136" y="868680"/>
            <a:ext cx="2651760" cy="5029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80576" y="886968"/>
            <a:ext cx="246887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🔀  FULL OUTER JOIN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26296" y="146304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ADCFC"/>
                </a:solidFill>
                <a:latin typeface="Calibri"/>
              </a:rPr>
              <a:t>Everything from both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26296" y="1920240"/>
            <a:ext cx="2377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Use when you want ALL data from BOTH tables, matched or not.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226296" y="3246120"/>
            <a:ext cx="2377440" cy="3657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226296" y="333756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8C00"/>
                </a:solidFill>
                <a:latin typeface="Calibri"/>
              </a:rPr>
              <a:t>Example result: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26296" y="365760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  <a:latin typeface="Consolas"/>
              </a:rPr>
              <a:t>All rows, NULLs where no match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6217920"/>
            <a:ext cx="11430000" cy="530352"/>
          </a:xfrm>
          <a:prstGeom prst="rect">
            <a:avLst/>
          </a:prstGeom>
          <a:solidFill>
            <a:srgbClr val="141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624535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ADCFC"/>
                </a:solidFill>
                <a:latin typeface="Calibri"/>
              </a:rPr>
              <a:t>🧠  Memory Trick:  INNER = strict bouncer (only VIPs who match) •  LEFT = left table is the boss •  FULL = nobody gets left out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08A"/>
                </a:solidFill>
                <a:latin typeface="Calibri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3716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E2761"/>
                </a:solidFill>
                <a:latin typeface="Calibri"/>
              </a:rPr>
              <a:t>When to Use Which JOIN?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749808"/>
            <a:ext cx="11430000" cy="36576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914400"/>
            <a:ext cx="2331720" cy="102412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005840"/>
            <a:ext cx="2148839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🤝 INNER JOIN</a:t>
            </a:r>
          </a:p>
        </p:txBody>
      </p:sp>
      <p:sp>
        <p:nvSpPr>
          <p:cNvPr id="7" name="Rectangle 6"/>
          <p:cNvSpPr/>
          <p:nvPr/>
        </p:nvSpPr>
        <p:spPr>
          <a:xfrm>
            <a:off x="2834639" y="914400"/>
            <a:ext cx="8823959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CCD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17520" y="1005840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28090"/>
                </a:solidFill>
                <a:latin typeface="Calibri"/>
              </a:rPr>
              <a:t>E-commerce: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92040" y="1005840"/>
            <a:ext cx="658367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Show only orders that have a valid customer record — no orphan orders.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029968"/>
            <a:ext cx="2331720" cy="1024128"/>
          </a:xfrm>
          <a:prstGeom prst="rect">
            <a:avLst/>
          </a:prstGeom>
          <a:solidFill>
            <a:srgbClr val="0D9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121408"/>
            <a:ext cx="2148839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⬅️  LEFT JOIN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34639" y="2029968"/>
            <a:ext cx="8823959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CCD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17520" y="2121408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9A88"/>
                </a:solidFill>
                <a:latin typeface="Calibri"/>
              </a:rPr>
              <a:t>Sales Report: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92040" y="2121408"/>
            <a:ext cx="658367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List all salespeople, even those with zero sales this month (NULL orders).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145536"/>
            <a:ext cx="2331720" cy="1024128"/>
          </a:xfrm>
          <a:prstGeom prst="rect">
            <a:avLst/>
          </a:prstGeom>
          <a:solidFill>
            <a:srgbClr val="6D2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236976"/>
            <a:ext cx="2148839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➡️  RIGHT JOIN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834639" y="3145536"/>
            <a:ext cx="8823959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CCD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17520" y="3236976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D2E46"/>
                </a:solidFill>
                <a:latin typeface="Calibri"/>
              </a:rPr>
              <a:t>Audit / Finance: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92040" y="3236976"/>
            <a:ext cx="658367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Show all invoices, even if the linked employee has since left the company.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4261104"/>
            <a:ext cx="2331720" cy="102412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4352544"/>
            <a:ext cx="2148839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🔀 FULL OUTER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34639" y="4261104"/>
            <a:ext cx="8823959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CCD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017520" y="4352544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B5CF6"/>
                </a:solidFill>
                <a:latin typeface="Calibri"/>
              </a:rPr>
              <a:t>Reconciliation: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92040" y="4352544"/>
            <a:ext cx="658367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Compare two systems side-by-side — highlight records missing from either side.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5230368"/>
            <a:ext cx="11430000" cy="14173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5266944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8C00"/>
                </a:solidFill>
                <a:latin typeface="Calibri"/>
              </a:rPr>
              <a:t>🧠  Key Takeaways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568756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CFC"/>
                </a:solidFill>
                <a:latin typeface="Calibri"/>
              </a:rPr>
              <a:t>✅  JOINs combine tables using a shared column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980176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CFC"/>
                </a:solidFill>
                <a:latin typeface="Calibri"/>
              </a:rPr>
              <a:t>✅  INNER = strictest (matching rows only)   •   LEFT = most common in practice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6272783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CFC"/>
                </a:solidFill>
                <a:latin typeface="Calibri"/>
              </a:rPr>
              <a:t>✅  FULL OUTER = most inclusive (nothing left out)   •   NULL = no match found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